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  <p:embeddedFont>
      <p:font typeface="PT Serif" charset="1" panose="020A0603040505020204"/>
      <p:regular r:id="rId20"/>
    </p:embeddedFont>
    <p:embeddedFont>
      <p:font typeface="PT Serif Bold" charset="1" panose="020A0703040505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00200" y="6337647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11673891" y="0"/>
            <a:ext cx="6614109" cy="10287000"/>
          </a:xfrm>
          <a:custGeom>
            <a:avLst/>
            <a:gdLst/>
            <a:ahLst/>
            <a:cxnLst/>
            <a:rect r="r" b="b" t="t" l="l"/>
            <a:pathLst>
              <a:path h="10287000" w="6614109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-99999" t="-14295" r="0" b="-142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0200" y="2541980"/>
            <a:ext cx="75438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spc="-48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Pitch Deck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200" y="7686600"/>
            <a:ext cx="43372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HARPER</a:t>
            </a: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RUSSO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7058903"/>
            <a:ext cx="43372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Ingoude</a:t>
            </a: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 Company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9731335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b="true" sz="5600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7751" y="429387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About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 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11555" y="425894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17751" y="508635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The 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1555" y="505142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17751" y="587883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Our 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1555" y="584390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7751" y="667131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Market Opp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o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rt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u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ni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11555" y="663638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17751" y="746379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Why N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o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11555" y="742886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87902" y="429387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Pr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o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d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u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c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81705" y="425894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7902" y="508635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Key Feat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u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81705" y="505142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87902" y="587883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Business M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o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81705" y="584390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87902" y="667131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R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o</a:t>
            </a:r>
            <a:r>
              <a:rPr lang="en-US" sz="3200" spc="-128" strike="noStrike" u="none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admap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081705" y="663638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050578" cy="10287000"/>
            <a:chOff x="0" y="0"/>
            <a:chExt cx="291044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104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10440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About 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28566"/>
            <a:ext cx="6923762" cy="347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build tailored digital tools that streamline operations, reduce inefficiencies, and elevate performance across vertical markets. Our approach focuses on solving industry-specific challenges with scala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 s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ftware sol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92000" y="1890282"/>
            <a:ext cx="1424574" cy="142457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523857" y="2222139"/>
            <a:ext cx="760861" cy="760861"/>
          </a:xfrm>
          <a:custGeom>
            <a:avLst/>
            <a:gdLst/>
            <a:ahLst/>
            <a:cxnLst/>
            <a:rect r="r" b="b" t="t" l="l"/>
            <a:pathLst>
              <a:path h="760861" w="760861">
                <a:moveTo>
                  <a:pt x="0" y="0"/>
                </a:moveTo>
                <a:lnTo>
                  <a:pt x="760860" y="0"/>
                </a:lnTo>
                <a:lnTo>
                  <a:pt x="760860" y="760861"/>
                </a:lnTo>
                <a:lnTo>
                  <a:pt x="0" y="760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68302" y="1733611"/>
            <a:ext cx="3090998" cy="113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5"/>
              </a:lnSpc>
              <a:spcBef>
                <a:spcPct val="0"/>
              </a:spcBef>
            </a:pPr>
            <a:r>
              <a:rPr lang="en-US" b="true" sz="6653" spc="-266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2023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68302" y="2873003"/>
            <a:ext cx="3090998" cy="46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8"/>
              </a:lnSpc>
              <a:spcBef>
                <a:spcPct val="0"/>
              </a:spcBef>
            </a:pPr>
            <a:r>
              <a:rPr lang="en-US" sz="2677" spc="16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ESTABLISHED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92000" y="4431213"/>
            <a:ext cx="1424574" cy="14245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475523" y="4773492"/>
            <a:ext cx="857528" cy="760861"/>
          </a:xfrm>
          <a:custGeom>
            <a:avLst/>
            <a:gdLst/>
            <a:ahLst/>
            <a:cxnLst/>
            <a:rect r="r" b="b" t="t" l="l"/>
            <a:pathLst>
              <a:path h="760861" w="857528">
                <a:moveTo>
                  <a:pt x="0" y="0"/>
                </a:moveTo>
                <a:lnTo>
                  <a:pt x="857528" y="0"/>
                </a:lnTo>
                <a:lnTo>
                  <a:pt x="857528" y="760861"/>
                </a:lnTo>
                <a:lnTo>
                  <a:pt x="0" y="760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168302" y="4274542"/>
            <a:ext cx="3090998" cy="113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5"/>
              </a:lnSpc>
              <a:spcBef>
                <a:spcPct val="0"/>
              </a:spcBef>
            </a:pPr>
            <a:r>
              <a:rPr lang="en-US" b="true" sz="6653" spc="-266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150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8302" y="5413934"/>
            <a:ext cx="3090998" cy="46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8"/>
              </a:lnSpc>
              <a:spcBef>
                <a:spcPct val="0"/>
              </a:spcBef>
            </a:pPr>
            <a:r>
              <a:rPr lang="en-US" sz="2677" spc="16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92000" y="6972144"/>
            <a:ext cx="1424574" cy="14245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502839" y="7282983"/>
            <a:ext cx="802895" cy="802895"/>
          </a:xfrm>
          <a:custGeom>
            <a:avLst/>
            <a:gdLst/>
            <a:ahLst/>
            <a:cxnLst/>
            <a:rect r="r" b="b" t="t" l="l"/>
            <a:pathLst>
              <a:path h="802895" w="802895">
                <a:moveTo>
                  <a:pt x="0" y="0"/>
                </a:moveTo>
                <a:lnTo>
                  <a:pt x="802895" y="0"/>
                </a:lnTo>
                <a:lnTo>
                  <a:pt x="802895" y="802895"/>
                </a:lnTo>
                <a:lnTo>
                  <a:pt x="0" y="802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168302" y="6815473"/>
            <a:ext cx="3090998" cy="113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5"/>
              </a:lnSpc>
              <a:spcBef>
                <a:spcPct val="0"/>
              </a:spcBef>
            </a:pPr>
            <a:r>
              <a:rPr lang="en-US" b="true" sz="6653" spc="-266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30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8302" y="7954864"/>
            <a:ext cx="3090998" cy="46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8"/>
              </a:lnSpc>
              <a:spcBef>
                <a:spcPct val="0"/>
              </a:spcBef>
            </a:pPr>
            <a:r>
              <a:rPr lang="en-US" sz="2677" spc="16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MEMBERS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050578" y="0"/>
            <a:ext cx="7237422" cy="10287000"/>
          </a:xfrm>
          <a:custGeom>
            <a:avLst/>
            <a:gdLst/>
            <a:ahLst/>
            <a:cxnLst/>
            <a:rect r="r" b="b" t="t" l="l"/>
            <a:pathLst>
              <a:path h="10287000" w="7237422">
                <a:moveTo>
                  <a:pt x="0" y="0"/>
                </a:moveTo>
                <a:lnTo>
                  <a:pt x="7237422" y="0"/>
                </a:lnTo>
                <a:lnTo>
                  <a:pt x="72374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692" t="0" r="-8958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53544"/>
            <a:ext cx="6923762" cy="29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Many industries still rely on legacy systems, manual processes, and disconnected tools. This results in costly inefficiencies, compliance risks, and missed opportunities to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imiz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o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pera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23958"/>
            <a:ext cx="59312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FRAGMENTED TOOLS, OUTDATED SYSTEMS, SLOW PROGRESS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36613" y="3627713"/>
            <a:ext cx="9017495" cy="5499426"/>
            <a:chOff x="0" y="0"/>
            <a:chExt cx="2374978" cy="1448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4978" cy="1448409"/>
            </a:xfrm>
            <a:custGeom>
              <a:avLst/>
              <a:gdLst/>
              <a:ahLst/>
              <a:cxnLst/>
              <a:rect r="r" b="b" t="t" l="l"/>
              <a:pathLst>
                <a:path h="1448409" w="2374978">
                  <a:moveTo>
                    <a:pt x="8585" y="0"/>
                  </a:moveTo>
                  <a:lnTo>
                    <a:pt x="2366393" y="0"/>
                  </a:lnTo>
                  <a:cubicBezTo>
                    <a:pt x="2371134" y="0"/>
                    <a:pt x="2374978" y="3844"/>
                    <a:pt x="2374978" y="8585"/>
                  </a:cubicBezTo>
                  <a:lnTo>
                    <a:pt x="2374978" y="1439823"/>
                  </a:lnTo>
                  <a:cubicBezTo>
                    <a:pt x="2374978" y="1442100"/>
                    <a:pt x="2374074" y="1444284"/>
                    <a:pt x="2372464" y="1445894"/>
                  </a:cubicBezTo>
                  <a:cubicBezTo>
                    <a:pt x="2370853" y="1447504"/>
                    <a:pt x="2368670" y="1448409"/>
                    <a:pt x="2366393" y="1448409"/>
                  </a:cubicBezTo>
                  <a:lnTo>
                    <a:pt x="8585" y="1448409"/>
                  </a:lnTo>
                  <a:cubicBezTo>
                    <a:pt x="3844" y="1448409"/>
                    <a:pt x="0" y="1444565"/>
                    <a:pt x="0" y="1439823"/>
                  </a:cubicBezTo>
                  <a:lnTo>
                    <a:pt x="0" y="8585"/>
                  </a:lnTo>
                  <a:cubicBezTo>
                    <a:pt x="0" y="3844"/>
                    <a:pt x="3844" y="0"/>
                    <a:pt x="8585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2374978" cy="160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4136523"/>
            <a:ext cx="6923762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pc="84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Software Platform Designed for Real-World Operations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60549"/>
            <a:ext cx="6923762" cy="248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develop industry-focused software platforms that align with specific workflows, regulatory standards, and user behaviors—offering better fit, fas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ter deployment, and higher retention.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243380" y="4003893"/>
            <a:ext cx="1858737" cy="1858737"/>
          </a:xfrm>
          <a:custGeom>
            <a:avLst/>
            <a:gdLst/>
            <a:ahLst/>
            <a:cxnLst/>
            <a:rect r="r" b="b" t="t" l="l"/>
            <a:pathLst>
              <a:path h="1858737" w="1858737">
                <a:moveTo>
                  <a:pt x="0" y="0"/>
                </a:moveTo>
                <a:lnTo>
                  <a:pt x="1858737" y="0"/>
                </a:lnTo>
                <a:lnTo>
                  <a:pt x="1858737" y="1858737"/>
                </a:lnTo>
                <a:lnTo>
                  <a:pt x="0" y="1858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11057" y="4003893"/>
            <a:ext cx="2665886" cy="1858737"/>
          </a:xfrm>
          <a:custGeom>
            <a:avLst/>
            <a:gdLst/>
            <a:ahLst/>
            <a:cxnLst/>
            <a:rect r="r" b="b" t="t" l="l"/>
            <a:pathLst>
              <a:path h="1858737" w="2665886">
                <a:moveTo>
                  <a:pt x="0" y="0"/>
                </a:moveTo>
                <a:lnTo>
                  <a:pt x="2665886" y="0"/>
                </a:lnTo>
                <a:lnTo>
                  <a:pt x="2665886" y="1858737"/>
                </a:lnTo>
                <a:lnTo>
                  <a:pt x="0" y="1858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32028" y="4003893"/>
            <a:ext cx="2366447" cy="1858737"/>
          </a:xfrm>
          <a:custGeom>
            <a:avLst/>
            <a:gdLst/>
            <a:ahLst/>
            <a:cxnLst/>
            <a:rect r="r" b="b" t="t" l="l"/>
            <a:pathLst>
              <a:path h="1858737" w="2366447">
                <a:moveTo>
                  <a:pt x="0" y="0"/>
                </a:moveTo>
                <a:lnTo>
                  <a:pt x="2366447" y="0"/>
                </a:lnTo>
                <a:lnTo>
                  <a:pt x="2366447" y="1858737"/>
                </a:lnTo>
                <a:lnTo>
                  <a:pt x="0" y="18587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Market Opportunity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1808" y="6533381"/>
            <a:ext cx="346188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FOCUSED INDUSTRY SEGMENTS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13059" y="6533381"/>
            <a:ext cx="346188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HIGH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SWI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CHING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EM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4311" y="6533381"/>
            <a:ext cx="346188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 DIGITAL P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EN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</a:t>
            </a:r>
            <a:r>
              <a:rPr lang="en-US" b="true" sz="2400" spc="192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Why Now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0695" y="3067619"/>
            <a:ext cx="9948605" cy="198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Advancements in cloud infrastructure, mobile access, and remote work adoption have made the market more receptive to niche software that solves focused, operational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pai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points.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6104751"/>
            <a:ext cx="18288000" cy="4182249"/>
          </a:xfrm>
          <a:custGeom>
            <a:avLst/>
            <a:gdLst/>
            <a:ahLst/>
            <a:cxnLst/>
            <a:rect r="r" b="b" t="t" l="l"/>
            <a:pathLst>
              <a:path h="4182249" w="18288000">
                <a:moveTo>
                  <a:pt x="0" y="0"/>
                </a:moveTo>
                <a:lnTo>
                  <a:pt x="18288000" y="0"/>
                </a:lnTo>
                <a:lnTo>
                  <a:pt x="18288000" y="4182249"/>
                </a:lnTo>
                <a:lnTo>
                  <a:pt x="0" y="418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978" r="0" b="-1139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29519"/>
            <a:ext cx="5457059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pc="84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Timing</a:t>
            </a:r>
            <a:r>
              <a:rPr lang="en-US" sz="4200" spc="84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Aligns with Digital Readiness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12" r="0" b="-49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920865" cy="10287000"/>
            <a:chOff x="0" y="0"/>
            <a:chExt cx="313965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396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39652">
                  <a:moveTo>
                    <a:pt x="0" y="0"/>
                  </a:moveTo>
                  <a:lnTo>
                    <a:pt x="3139652" y="0"/>
                  </a:lnTo>
                  <a:lnTo>
                    <a:pt x="313965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3139652" cy="286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7277651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7812405"/>
            <a:ext cx="8802091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pc="72" strike="noStrike" u="none">
                <a:solidFill>
                  <a:srgbClr val="FAFAFA"/>
                </a:solidFill>
                <a:latin typeface="PT Serif Bold"/>
                <a:ea typeface="PT Serif Bold"/>
                <a:cs typeface="PT Serif Bold"/>
                <a:sym typeface="PT Serif Bold"/>
              </a:rPr>
              <a:t>Intuitive, customizable, and support daily tasks with minimal training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35201"/>
            <a:ext cx="533887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PRODUCT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298859" y="2818844"/>
            <a:ext cx="2729263" cy="27292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8366" y="0"/>
                  </a:moveTo>
                  <a:lnTo>
                    <a:pt x="784434" y="0"/>
                  </a:lnTo>
                  <a:cubicBezTo>
                    <a:pt x="791957" y="0"/>
                    <a:pt x="799172" y="2989"/>
                    <a:pt x="804492" y="8308"/>
                  </a:cubicBezTo>
                  <a:cubicBezTo>
                    <a:pt x="809811" y="13628"/>
                    <a:pt x="812800" y="20843"/>
                    <a:pt x="812800" y="28366"/>
                  </a:cubicBezTo>
                  <a:lnTo>
                    <a:pt x="812800" y="784434"/>
                  </a:lnTo>
                  <a:cubicBezTo>
                    <a:pt x="812800" y="791957"/>
                    <a:pt x="809811" y="799172"/>
                    <a:pt x="804492" y="804492"/>
                  </a:cubicBezTo>
                  <a:cubicBezTo>
                    <a:pt x="799172" y="809811"/>
                    <a:pt x="791957" y="812800"/>
                    <a:pt x="784434" y="812800"/>
                  </a:cubicBezTo>
                  <a:lnTo>
                    <a:pt x="28366" y="812800"/>
                  </a:lnTo>
                  <a:cubicBezTo>
                    <a:pt x="20843" y="812800"/>
                    <a:pt x="13628" y="809811"/>
                    <a:pt x="8308" y="804492"/>
                  </a:cubicBezTo>
                  <a:cubicBezTo>
                    <a:pt x="2989" y="799172"/>
                    <a:pt x="0" y="791957"/>
                    <a:pt x="0" y="784434"/>
                  </a:cubicBezTo>
                  <a:lnTo>
                    <a:pt x="0" y="28366"/>
                  </a:lnTo>
                  <a:cubicBezTo>
                    <a:pt x="0" y="20843"/>
                    <a:pt x="2989" y="13628"/>
                    <a:pt x="8308" y="8308"/>
                  </a:cubicBezTo>
                  <a:cubicBezTo>
                    <a:pt x="13628" y="2989"/>
                    <a:pt x="20843" y="0"/>
                    <a:pt x="28366" y="0"/>
                  </a:cubicBezTo>
                  <a:close/>
                </a:path>
              </a:pathLst>
            </a:custGeom>
            <a:solidFill>
              <a:srgbClr val="F5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13906" y="3213778"/>
            <a:ext cx="1099170" cy="1070705"/>
          </a:xfrm>
          <a:custGeom>
            <a:avLst/>
            <a:gdLst/>
            <a:ahLst/>
            <a:cxnLst/>
            <a:rect r="r" b="b" t="t" l="l"/>
            <a:pathLst>
              <a:path h="1070705" w="1099170">
                <a:moveTo>
                  <a:pt x="0" y="0"/>
                </a:moveTo>
                <a:lnTo>
                  <a:pt x="1099170" y="0"/>
                </a:lnTo>
                <a:lnTo>
                  <a:pt x="1099170" y="1070705"/>
                </a:lnTo>
                <a:lnTo>
                  <a:pt x="0" y="107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32853" y="2818844"/>
            <a:ext cx="2729263" cy="27292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8366" y="0"/>
                  </a:moveTo>
                  <a:lnTo>
                    <a:pt x="784434" y="0"/>
                  </a:lnTo>
                  <a:cubicBezTo>
                    <a:pt x="791957" y="0"/>
                    <a:pt x="799172" y="2989"/>
                    <a:pt x="804492" y="8308"/>
                  </a:cubicBezTo>
                  <a:cubicBezTo>
                    <a:pt x="809811" y="13628"/>
                    <a:pt x="812800" y="20843"/>
                    <a:pt x="812800" y="28366"/>
                  </a:cubicBezTo>
                  <a:lnTo>
                    <a:pt x="812800" y="784434"/>
                  </a:lnTo>
                  <a:cubicBezTo>
                    <a:pt x="812800" y="791957"/>
                    <a:pt x="809811" y="799172"/>
                    <a:pt x="804492" y="804492"/>
                  </a:cubicBezTo>
                  <a:cubicBezTo>
                    <a:pt x="799172" y="809811"/>
                    <a:pt x="791957" y="812800"/>
                    <a:pt x="784434" y="812800"/>
                  </a:cubicBezTo>
                  <a:lnTo>
                    <a:pt x="28366" y="812800"/>
                  </a:lnTo>
                  <a:cubicBezTo>
                    <a:pt x="20843" y="812800"/>
                    <a:pt x="13628" y="809811"/>
                    <a:pt x="8308" y="804492"/>
                  </a:cubicBezTo>
                  <a:cubicBezTo>
                    <a:pt x="2989" y="799172"/>
                    <a:pt x="0" y="791957"/>
                    <a:pt x="0" y="784434"/>
                  </a:cubicBezTo>
                  <a:lnTo>
                    <a:pt x="0" y="28366"/>
                  </a:lnTo>
                  <a:cubicBezTo>
                    <a:pt x="0" y="20843"/>
                    <a:pt x="2989" y="13628"/>
                    <a:pt x="8308" y="8308"/>
                  </a:cubicBezTo>
                  <a:cubicBezTo>
                    <a:pt x="13628" y="2989"/>
                    <a:pt x="20843" y="0"/>
                    <a:pt x="28366" y="0"/>
                  </a:cubicBezTo>
                  <a:close/>
                </a:path>
              </a:pathLst>
            </a:custGeom>
            <a:solidFill>
              <a:srgbClr val="F5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66846" y="2818844"/>
            <a:ext cx="2729263" cy="272926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8366" y="0"/>
                  </a:moveTo>
                  <a:lnTo>
                    <a:pt x="784434" y="0"/>
                  </a:lnTo>
                  <a:cubicBezTo>
                    <a:pt x="791957" y="0"/>
                    <a:pt x="799172" y="2989"/>
                    <a:pt x="804492" y="8308"/>
                  </a:cubicBezTo>
                  <a:cubicBezTo>
                    <a:pt x="809811" y="13628"/>
                    <a:pt x="812800" y="20843"/>
                    <a:pt x="812800" y="28366"/>
                  </a:cubicBezTo>
                  <a:lnTo>
                    <a:pt x="812800" y="784434"/>
                  </a:lnTo>
                  <a:cubicBezTo>
                    <a:pt x="812800" y="791957"/>
                    <a:pt x="809811" y="799172"/>
                    <a:pt x="804492" y="804492"/>
                  </a:cubicBezTo>
                  <a:cubicBezTo>
                    <a:pt x="799172" y="809811"/>
                    <a:pt x="791957" y="812800"/>
                    <a:pt x="784434" y="812800"/>
                  </a:cubicBezTo>
                  <a:lnTo>
                    <a:pt x="28366" y="812800"/>
                  </a:lnTo>
                  <a:cubicBezTo>
                    <a:pt x="20843" y="812800"/>
                    <a:pt x="13628" y="809811"/>
                    <a:pt x="8308" y="804492"/>
                  </a:cubicBezTo>
                  <a:cubicBezTo>
                    <a:pt x="2989" y="799172"/>
                    <a:pt x="0" y="791957"/>
                    <a:pt x="0" y="784434"/>
                  </a:cubicBezTo>
                  <a:lnTo>
                    <a:pt x="0" y="28366"/>
                  </a:lnTo>
                  <a:cubicBezTo>
                    <a:pt x="0" y="20843"/>
                    <a:pt x="2989" y="13628"/>
                    <a:pt x="8308" y="8308"/>
                  </a:cubicBezTo>
                  <a:cubicBezTo>
                    <a:pt x="13628" y="2989"/>
                    <a:pt x="20843" y="0"/>
                    <a:pt x="28366" y="0"/>
                  </a:cubicBezTo>
                  <a:close/>
                </a:path>
              </a:pathLst>
            </a:custGeom>
            <a:solidFill>
              <a:srgbClr val="F5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98859" y="6073742"/>
            <a:ext cx="2729263" cy="27292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8366" y="0"/>
                  </a:moveTo>
                  <a:lnTo>
                    <a:pt x="784434" y="0"/>
                  </a:lnTo>
                  <a:cubicBezTo>
                    <a:pt x="791957" y="0"/>
                    <a:pt x="799172" y="2989"/>
                    <a:pt x="804492" y="8308"/>
                  </a:cubicBezTo>
                  <a:cubicBezTo>
                    <a:pt x="809811" y="13628"/>
                    <a:pt x="812800" y="20843"/>
                    <a:pt x="812800" y="28366"/>
                  </a:cubicBezTo>
                  <a:lnTo>
                    <a:pt x="812800" y="784434"/>
                  </a:lnTo>
                  <a:cubicBezTo>
                    <a:pt x="812800" y="791957"/>
                    <a:pt x="809811" y="799172"/>
                    <a:pt x="804492" y="804492"/>
                  </a:cubicBezTo>
                  <a:cubicBezTo>
                    <a:pt x="799172" y="809811"/>
                    <a:pt x="791957" y="812800"/>
                    <a:pt x="784434" y="812800"/>
                  </a:cubicBezTo>
                  <a:lnTo>
                    <a:pt x="28366" y="812800"/>
                  </a:lnTo>
                  <a:cubicBezTo>
                    <a:pt x="20843" y="812800"/>
                    <a:pt x="13628" y="809811"/>
                    <a:pt x="8308" y="804492"/>
                  </a:cubicBezTo>
                  <a:cubicBezTo>
                    <a:pt x="2989" y="799172"/>
                    <a:pt x="0" y="791957"/>
                    <a:pt x="0" y="784434"/>
                  </a:cubicBezTo>
                  <a:lnTo>
                    <a:pt x="0" y="28366"/>
                  </a:lnTo>
                  <a:cubicBezTo>
                    <a:pt x="0" y="20843"/>
                    <a:pt x="2989" y="13628"/>
                    <a:pt x="8308" y="8308"/>
                  </a:cubicBezTo>
                  <a:cubicBezTo>
                    <a:pt x="13628" y="2989"/>
                    <a:pt x="20843" y="0"/>
                    <a:pt x="28366" y="0"/>
                  </a:cubicBezTo>
                  <a:close/>
                </a:path>
              </a:pathLst>
            </a:custGeom>
            <a:solidFill>
              <a:srgbClr val="F5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32853" y="6073742"/>
            <a:ext cx="2729263" cy="272926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8366" y="0"/>
                  </a:moveTo>
                  <a:lnTo>
                    <a:pt x="784434" y="0"/>
                  </a:lnTo>
                  <a:cubicBezTo>
                    <a:pt x="791957" y="0"/>
                    <a:pt x="799172" y="2989"/>
                    <a:pt x="804492" y="8308"/>
                  </a:cubicBezTo>
                  <a:cubicBezTo>
                    <a:pt x="809811" y="13628"/>
                    <a:pt x="812800" y="20843"/>
                    <a:pt x="812800" y="28366"/>
                  </a:cubicBezTo>
                  <a:lnTo>
                    <a:pt x="812800" y="784434"/>
                  </a:lnTo>
                  <a:cubicBezTo>
                    <a:pt x="812800" y="791957"/>
                    <a:pt x="809811" y="799172"/>
                    <a:pt x="804492" y="804492"/>
                  </a:cubicBezTo>
                  <a:cubicBezTo>
                    <a:pt x="799172" y="809811"/>
                    <a:pt x="791957" y="812800"/>
                    <a:pt x="784434" y="812800"/>
                  </a:cubicBezTo>
                  <a:lnTo>
                    <a:pt x="28366" y="812800"/>
                  </a:lnTo>
                  <a:cubicBezTo>
                    <a:pt x="20843" y="812800"/>
                    <a:pt x="13628" y="809811"/>
                    <a:pt x="8308" y="804492"/>
                  </a:cubicBezTo>
                  <a:cubicBezTo>
                    <a:pt x="2989" y="799172"/>
                    <a:pt x="0" y="791957"/>
                    <a:pt x="0" y="784434"/>
                  </a:cubicBezTo>
                  <a:lnTo>
                    <a:pt x="0" y="28366"/>
                  </a:lnTo>
                  <a:cubicBezTo>
                    <a:pt x="0" y="20843"/>
                    <a:pt x="2989" y="13628"/>
                    <a:pt x="8308" y="8308"/>
                  </a:cubicBezTo>
                  <a:cubicBezTo>
                    <a:pt x="13628" y="2989"/>
                    <a:pt x="20843" y="0"/>
                    <a:pt x="28366" y="0"/>
                  </a:cubicBezTo>
                  <a:close/>
                </a:path>
              </a:pathLst>
            </a:custGeom>
            <a:solidFill>
              <a:srgbClr val="F5F5F5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438374" y="3213778"/>
            <a:ext cx="1100725" cy="1070705"/>
          </a:xfrm>
          <a:custGeom>
            <a:avLst/>
            <a:gdLst/>
            <a:ahLst/>
            <a:cxnLst/>
            <a:rect r="r" b="b" t="t" l="l"/>
            <a:pathLst>
              <a:path h="1070705" w="1100725">
                <a:moveTo>
                  <a:pt x="0" y="0"/>
                </a:moveTo>
                <a:lnTo>
                  <a:pt x="1100725" y="0"/>
                </a:lnTo>
                <a:lnTo>
                  <a:pt x="1100725" y="1070705"/>
                </a:lnTo>
                <a:lnTo>
                  <a:pt x="0" y="1070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07903" y="3213778"/>
            <a:ext cx="1047150" cy="1070705"/>
          </a:xfrm>
          <a:custGeom>
            <a:avLst/>
            <a:gdLst/>
            <a:ahLst/>
            <a:cxnLst/>
            <a:rect r="r" b="b" t="t" l="l"/>
            <a:pathLst>
              <a:path h="1070705" w="1047150">
                <a:moveTo>
                  <a:pt x="0" y="0"/>
                </a:moveTo>
                <a:lnTo>
                  <a:pt x="1047150" y="0"/>
                </a:lnTo>
                <a:lnTo>
                  <a:pt x="1047150" y="1070705"/>
                </a:lnTo>
                <a:lnTo>
                  <a:pt x="0" y="1070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44226" y="6468675"/>
            <a:ext cx="638530" cy="1070705"/>
          </a:xfrm>
          <a:custGeom>
            <a:avLst/>
            <a:gdLst/>
            <a:ahLst/>
            <a:cxnLst/>
            <a:rect r="r" b="b" t="t" l="l"/>
            <a:pathLst>
              <a:path h="1070705" w="638530">
                <a:moveTo>
                  <a:pt x="0" y="0"/>
                </a:moveTo>
                <a:lnTo>
                  <a:pt x="638530" y="0"/>
                </a:lnTo>
                <a:lnTo>
                  <a:pt x="638530" y="1070705"/>
                </a:lnTo>
                <a:lnTo>
                  <a:pt x="0" y="1070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Key 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62509" y="4494771"/>
            <a:ext cx="22019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Workflow Automation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96503" y="4494771"/>
            <a:ext cx="22019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mp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iance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Moni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30497" y="4494771"/>
            <a:ext cx="22019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-Ti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D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Access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62509" y="7749669"/>
            <a:ext cx="22019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bile-F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iend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erf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96503" y="7749669"/>
            <a:ext cx="22019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42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Workflow Automation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2837894"/>
            <a:ext cx="4926105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Each feature is purpose-built to reflect the real working environment and user needs.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428540" y="6542666"/>
            <a:ext cx="1137889" cy="922725"/>
          </a:xfrm>
          <a:custGeom>
            <a:avLst/>
            <a:gdLst/>
            <a:ahLst/>
            <a:cxnLst/>
            <a:rect r="r" b="b" t="t" l="l"/>
            <a:pathLst>
              <a:path h="922725" w="1137889">
                <a:moveTo>
                  <a:pt x="0" y="0"/>
                </a:moveTo>
                <a:lnTo>
                  <a:pt x="1137889" y="0"/>
                </a:lnTo>
                <a:lnTo>
                  <a:pt x="1137889" y="922724"/>
                </a:lnTo>
                <a:lnTo>
                  <a:pt x="0" y="922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Business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7894"/>
            <a:ext cx="8711110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ur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ng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reven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m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mp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men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by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pt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ilore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 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ent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prise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needs.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93230"/>
            <a:ext cx="4108240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4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cing tiers are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bas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 o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usage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scope, nu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ber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 users, or indus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try-specifi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odules.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76574"/>
            <a:ext cx="410824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SUBSCRIPTION-BASED LICENSING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89880" y="6093230"/>
            <a:ext cx="4108240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4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addition to the core platform, we offer opt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ional feature sets tailored to specific operational needs.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89880" y="4976574"/>
            <a:ext cx="4108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MOD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U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LA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R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 ADD-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1060" y="6093230"/>
            <a:ext cx="4108240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4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lients will experience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minim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isrupti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whil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ac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400" spc="48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faster return on investment.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1060" y="4976574"/>
            <a:ext cx="410824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INTEG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R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TION 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SUPPORT PA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C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KAG</a:t>
            </a:r>
            <a:r>
              <a:rPr lang="en-US" b="true" sz="2400" spc="192" strike="noStrike" u="none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35366" y="3113465"/>
            <a:ext cx="3668688" cy="5306533"/>
            <a:chOff x="0" y="0"/>
            <a:chExt cx="997841" cy="1443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1103" y="0"/>
                  </a:moveTo>
                  <a:lnTo>
                    <a:pt x="976739" y="0"/>
                  </a:lnTo>
                  <a:cubicBezTo>
                    <a:pt x="988393" y="0"/>
                    <a:pt x="997841" y="9448"/>
                    <a:pt x="997841" y="21103"/>
                  </a:cubicBezTo>
                  <a:lnTo>
                    <a:pt x="997841" y="1422214"/>
                  </a:lnTo>
                  <a:cubicBezTo>
                    <a:pt x="997841" y="1433868"/>
                    <a:pt x="988393" y="1443316"/>
                    <a:pt x="976739" y="1443316"/>
                  </a:cubicBezTo>
                  <a:lnTo>
                    <a:pt x="21103" y="1443316"/>
                  </a:lnTo>
                  <a:cubicBezTo>
                    <a:pt x="9448" y="1443316"/>
                    <a:pt x="0" y="1433868"/>
                    <a:pt x="0" y="1422214"/>
                  </a:cubicBezTo>
                  <a:lnTo>
                    <a:pt x="0" y="21103"/>
                  </a:lnTo>
                  <a:cubicBezTo>
                    <a:pt x="0" y="9448"/>
                    <a:pt x="9448" y="0"/>
                    <a:pt x="21103" y="0"/>
                  </a:cubicBezTo>
                  <a:close/>
                </a:path>
              </a:pathLst>
            </a:custGeom>
            <a:solidFill>
              <a:srgbClr val="FF8A80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53205" y="874585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823" y="5474728"/>
            <a:ext cx="3180684" cy="243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Platfo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rm foundation with essential fe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ures</a:t>
            </a:r>
          </a:p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Early deployment wit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 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lot 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8056" y="3225211"/>
            <a:ext cx="1748694" cy="146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29"/>
              </a:lnSpc>
              <a:spcBef>
                <a:spcPct val="0"/>
              </a:spcBef>
            </a:pPr>
            <a:r>
              <a:rPr lang="en-US" b="true" sz="8521" spc="17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20448" y="3113465"/>
            <a:ext cx="3668688" cy="5306533"/>
            <a:chOff x="0" y="0"/>
            <a:chExt cx="997841" cy="14433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1103" y="0"/>
                  </a:moveTo>
                  <a:lnTo>
                    <a:pt x="976739" y="0"/>
                  </a:lnTo>
                  <a:cubicBezTo>
                    <a:pt x="988393" y="0"/>
                    <a:pt x="997841" y="9448"/>
                    <a:pt x="997841" y="21103"/>
                  </a:cubicBezTo>
                  <a:lnTo>
                    <a:pt x="997841" y="1422214"/>
                  </a:lnTo>
                  <a:cubicBezTo>
                    <a:pt x="997841" y="1433868"/>
                    <a:pt x="988393" y="1443316"/>
                    <a:pt x="976739" y="1443316"/>
                  </a:cubicBezTo>
                  <a:lnTo>
                    <a:pt x="21103" y="1443316"/>
                  </a:lnTo>
                  <a:cubicBezTo>
                    <a:pt x="9448" y="1443316"/>
                    <a:pt x="0" y="1433868"/>
                    <a:pt x="0" y="1422214"/>
                  </a:cubicBezTo>
                  <a:lnTo>
                    <a:pt x="0" y="21103"/>
                  </a:lnTo>
                  <a:cubicBezTo>
                    <a:pt x="0" y="9448"/>
                    <a:pt x="9448" y="0"/>
                    <a:pt x="21103" y="0"/>
                  </a:cubicBezTo>
                  <a:close/>
                </a:path>
              </a:pathLst>
            </a:custGeom>
            <a:solidFill>
              <a:srgbClr val="FF8A80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64450" y="5474728"/>
            <a:ext cx="3180684" cy="243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Release of opt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nal feature a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ons</a:t>
            </a:r>
          </a:p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mprovements for speed and sc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alab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56684" y="3225211"/>
            <a:ext cx="1751611" cy="146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29"/>
              </a:lnSpc>
              <a:spcBef>
                <a:spcPct val="0"/>
              </a:spcBef>
            </a:pPr>
            <a:r>
              <a:rPr lang="en-US" b="true" sz="8521" spc="17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05530" y="3113465"/>
            <a:ext cx="3668688" cy="5306533"/>
            <a:chOff x="0" y="0"/>
            <a:chExt cx="997841" cy="14433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1103" y="0"/>
                  </a:moveTo>
                  <a:lnTo>
                    <a:pt x="976739" y="0"/>
                  </a:lnTo>
                  <a:cubicBezTo>
                    <a:pt x="988393" y="0"/>
                    <a:pt x="997841" y="9448"/>
                    <a:pt x="997841" y="21103"/>
                  </a:cubicBezTo>
                  <a:lnTo>
                    <a:pt x="997841" y="1422214"/>
                  </a:lnTo>
                  <a:cubicBezTo>
                    <a:pt x="997841" y="1433868"/>
                    <a:pt x="988393" y="1443316"/>
                    <a:pt x="976739" y="1443316"/>
                  </a:cubicBezTo>
                  <a:lnTo>
                    <a:pt x="21103" y="1443316"/>
                  </a:lnTo>
                  <a:cubicBezTo>
                    <a:pt x="9448" y="1443316"/>
                    <a:pt x="0" y="1433868"/>
                    <a:pt x="0" y="1422214"/>
                  </a:cubicBezTo>
                  <a:lnTo>
                    <a:pt x="0" y="21103"/>
                  </a:lnTo>
                  <a:cubicBezTo>
                    <a:pt x="0" y="9448"/>
                    <a:pt x="9448" y="0"/>
                    <a:pt x="21103" y="0"/>
                  </a:cubicBezTo>
                  <a:close/>
                </a:path>
              </a:pathLst>
            </a:custGeom>
            <a:solidFill>
              <a:srgbClr val="FF8A80">
                <a:alpha val="6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643077" y="5474728"/>
            <a:ext cx="3180684" cy="243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749" indent="-250875" lvl="1">
              <a:lnSpc>
                <a:spcPts val="3253"/>
              </a:lnSpc>
              <a:buFont typeface="Arial"/>
              <a:buChar char="•"/>
            </a:pPr>
            <a:r>
              <a:rPr lang="en-US" sz="2323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Support for integration with business systems</a:t>
            </a:r>
          </a:p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treamlined data sync and automation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5311" y="3225211"/>
            <a:ext cx="1751611" cy="146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29"/>
              </a:lnSpc>
              <a:spcBef>
                <a:spcPct val="0"/>
              </a:spcBef>
            </a:pPr>
            <a:r>
              <a:rPr lang="en-US" b="true" sz="8521" spc="17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90612" y="3113465"/>
            <a:ext cx="3668688" cy="5306533"/>
            <a:chOff x="0" y="0"/>
            <a:chExt cx="997841" cy="14433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1103" y="0"/>
                  </a:moveTo>
                  <a:lnTo>
                    <a:pt x="976739" y="0"/>
                  </a:lnTo>
                  <a:cubicBezTo>
                    <a:pt x="988393" y="0"/>
                    <a:pt x="997841" y="9448"/>
                    <a:pt x="997841" y="21103"/>
                  </a:cubicBezTo>
                  <a:lnTo>
                    <a:pt x="997841" y="1422214"/>
                  </a:lnTo>
                  <a:cubicBezTo>
                    <a:pt x="997841" y="1433868"/>
                    <a:pt x="988393" y="1443316"/>
                    <a:pt x="976739" y="1443316"/>
                  </a:cubicBezTo>
                  <a:lnTo>
                    <a:pt x="21103" y="1443316"/>
                  </a:lnTo>
                  <a:cubicBezTo>
                    <a:pt x="9448" y="1443316"/>
                    <a:pt x="0" y="1433868"/>
                    <a:pt x="0" y="1422214"/>
                  </a:cubicBezTo>
                  <a:lnTo>
                    <a:pt x="0" y="21103"/>
                  </a:lnTo>
                  <a:cubicBezTo>
                    <a:pt x="0" y="9448"/>
                    <a:pt x="9448" y="0"/>
                    <a:pt x="21103" y="0"/>
                  </a:cubicBezTo>
                  <a:close/>
                </a:path>
              </a:pathLst>
            </a:custGeom>
            <a:solidFill>
              <a:srgbClr val="FF8A80">
                <a:alpha val="8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821705" y="5474728"/>
            <a:ext cx="3180684" cy="243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workspace 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tool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nd sharing con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rols</a:t>
            </a:r>
          </a:p>
          <a:p>
            <a:pPr algn="l" marL="501749" indent="-250875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Enhanced reporting and s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nar</a:t>
            </a:r>
            <a:r>
              <a:rPr lang="en-US" sz="2323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io planning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13938" y="3225211"/>
            <a:ext cx="1751611" cy="146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29"/>
              </a:lnSpc>
              <a:spcBef>
                <a:spcPct val="0"/>
              </a:spcBef>
            </a:pPr>
            <a:r>
              <a:rPr lang="en-US" b="true" sz="8521" spc="17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Q4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279368" y="5124450"/>
            <a:ext cx="3180684" cy="0"/>
          </a:xfrm>
          <a:prstGeom prst="line">
            <a:avLst/>
          </a:prstGeom>
          <a:ln cap="flat" w="3810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464450" y="5124450"/>
            <a:ext cx="3180684" cy="0"/>
          </a:xfrm>
          <a:prstGeom prst="line">
            <a:avLst/>
          </a:prstGeom>
          <a:ln cap="flat" w="3810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9649532" y="5124450"/>
            <a:ext cx="3180684" cy="0"/>
          </a:xfrm>
          <a:prstGeom prst="line">
            <a:avLst/>
          </a:prstGeom>
          <a:ln cap="flat" w="3810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3834614" y="5124450"/>
            <a:ext cx="3180684" cy="0"/>
          </a:xfrm>
          <a:prstGeom prst="line">
            <a:avLst/>
          </a:prstGeom>
          <a:ln cap="flat" w="3810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06461" y="6337647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14109" cy="10287000"/>
          </a:xfrm>
          <a:custGeom>
            <a:avLst/>
            <a:gdLst/>
            <a:ahLst/>
            <a:cxnLst/>
            <a:rect r="r" b="b" t="t" l="l"/>
            <a:pathLst>
              <a:path h="10287000" w="6614109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0" t="-14295" r="-99999" b="-142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0" y="2541980"/>
            <a:ext cx="753997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0"/>
              </a:lnSpc>
            </a:pPr>
            <a:r>
              <a:rPr lang="en-US" b="true" sz="12000" spc="-48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46748" y="7686600"/>
            <a:ext cx="43372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HARPER</a:t>
            </a: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RUSSO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6748" y="7058903"/>
            <a:ext cx="43372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Ingoude</a:t>
            </a: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DAHXMa3F6Mg</dc:identifier>
  <dcterms:modified xsi:type="dcterms:W3CDTF">2011-08-01T06:04:30Z</dcterms:modified>
  <cp:revision>1</cp:revision>
  <dc:title>White Red and Black Simple Professional Minimalist Pitch Deck Company Presentation</dc:title>
</cp:coreProperties>
</file>